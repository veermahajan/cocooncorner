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82093a355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82093a355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1st Gr Red Rooms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2nd Gr Red Rooms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Clubhouse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82093a3553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82093a3553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1st Gr Red Rooms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2nd Gr Red Rooms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Clubhouse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82093a355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82093a355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82093a3553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82093a3553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82093a3553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82093a3553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82093a3553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82093a3553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found that when autistic children could control the sensory equipment, they paid more attention and performed fewer repetitive and sensory behaviours. They also used less stereotyped speech, produced fewer vocalisations and showed lower levels of activity. Other behaviours were not affected. Our findings demonstrate that how a Multi-Sensory Environment is used can impact behaviour and that providing control of sensory changes to autistic children may help create better conditions for learning.” Article 1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82093a3553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82093a3553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82093a3553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82093a3553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82093a3553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82093a3553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1800"/>
              </a:spcAft>
              <a:buNone/>
            </a:pPr>
            <a:r>
              <a:rPr lang="en"/>
              <a:t>Need to do this for 4 classrooms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82093a3553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82093a3553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82093a3553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82093a3553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82093a3553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82093a3553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82093a3553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82093a3553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82093a3553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82093a3553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www.canva.com/design/DAGurNQNIFM/LLGfB133eUbs3MLZN-x6qQ/edit?utm_content=DAGurNQNIFM&amp;utm_campaign=designshare&amp;utm_medium=link2&amp;utm_source=sharebutton"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pmc.ncbi.nlm.nih.gov/articles/PMC9340127/" TargetMode="External"/><Relationship Id="rId4" Type="http://schemas.openxmlformats.org/officeDocument/2006/relationships/hyperlink" Target="https://www.cdc.gov/adhd/treatment/classroom.html" TargetMode="External"/><Relationship Id="rId5" Type="http://schemas.openxmlformats.org/officeDocument/2006/relationships/image" Target="../media/image4.png"/><Relationship Id="rId6"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buildfaith.org/neurodiversity-in-the-classroom/" TargetMode="External"/><Relationship Id="rId4" Type="http://schemas.openxmlformats.org/officeDocument/2006/relationships/hyperlink" Target="https://shinecurriculum.com/2023/09/13/elementor-20951/" TargetMode="External"/><Relationship Id="rId5" Type="http://schemas.openxmlformats.org/officeDocument/2006/relationships/hyperlink" Target="https://www.weareprogressive.com/insights/universal-design-tips-that-support-a-neurodiverse-classroom"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image14.png"/><Relationship Id="rId9" Type="http://schemas.openxmlformats.org/officeDocument/2006/relationships/image" Target="../media/image12.png"/><Relationship Id="rId5" Type="http://schemas.openxmlformats.org/officeDocument/2006/relationships/image" Target="../media/image15.png"/><Relationship Id="rId6" Type="http://schemas.openxmlformats.org/officeDocument/2006/relationships/image" Target="../media/image8.jpg"/><Relationship Id="rId7" Type="http://schemas.openxmlformats.org/officeDocument/2006/relationships/image" Target="../media/image2.jpg"/><Relationship Id="rId8"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www.amazon.com/Marfete-Dimmable-Frontlight-3000-6500K-Ultra-Thin/dp/B0BY9GQWYL/ref=asc_df_B0BY9GQWYL?tag=bingshoppinga-20&amp;linkCode=df0&amp;hvadid=80264538848137&amp;hvnetw=o&amp;hvqmt=e&amp;hvbmt=be&amp;hvdev=c&amp;hvlocint=&amp;hvlocphy=111485&amp;hvtargid=pla-4583864005084216&amp;th=1" TargetMode="External"/><Relationship Id="rId4" Type="http://schemas.openxmlformats.org/officeDocument/2006/relationships/hyperlink" Target="https://www.amazon.com/LED-Tube-Fish-Fantasy-Alleviating/dp/B0DFWG561W/ref=sr_1_1_sspa?adgrpid=1346902306598479&amp;dib=eyJ2IjoiMSJ9.6PUZ20SvvS4Nc1R4x2uM94vVYlBQv8ji02ilp1282CenvW9jCAuoK4x6huIavClbHWjdip56LJWel9he1056oiVBIoOygexx6fykiHtb9w1TZn4gqsGPciDdb4Fj2iP82vxz8vzUnSQ_wuBs_a2Hu77XR8uClM94i1zRNtSLI8p0aOH4A5IYfdtVYTGdEFApPVsadGotWrY9OA1l-aPyHpwaB_Sk3rldxbEyOzYk0QNVCnERQ4FFshNxPqQWEDv22Rlla1CPibV_AdNTQhpAezlPM_9X5uSTt8VamrEYAWo.0eq9JKXvpNS8ZRpAgzM_5SzcZe0vqxNXOAq9HZnBD1A&amp;dib_tag=se&amp;hvadid=84181464951240&amp;hvbmt=be&amp;hvdev=c&amp;hvlocphy=111485&amp;hvnetw=o&amp;hvqmt=e&amp;hvtargid=kwd-84181733535417%3Aloc-190&amp;hydadcr=4096_10319034&amp;keywords=water+tube+sensory&amp;mcid=bc962bc6964636318f3e0f843e96b420&amp;msclkid=1f828d63cd0615e7a7dce5df29fb8ff2&amp;qid=1757209861&amp;sr=8-1-spons&amp;sp_csd=d2lkZ2V0TmFtZT1zcF9hdGY&amp;psc=1" TargetMode="External"/><Relationship Id="rId5" Type="http://schemas.openxmlformats.org/officeDocument/2006/relationships/hyperlink" Target="https://www.amazon.com/Joyreal-2PCS-Montessori-Toddler-Board/dp/B0DDH2976D" TargetMode="External"/><Relationship Id="rId6" Type="http://schemas.openxmlformats.org/officeDocument/2006/relationships/hyperlink" Target="https://www.amazon.com/TOSY-Magnet-Cube-3x3-Transformable/dp/B0DMT4TP1N?ref_=ast_sto_dp&amp;th=1" TargetMode="External"/><Relationship Id="rId7" Type="http://schemas.openxmlformats.org/officeDocument/2006/relationships/hyperlink" Target="https://www.amazon.com/%EF%BC%8CFerrite-Magnetic-Sensory-Fidgets-Anxiety/dp/B0CF1WQ1RK/?_encoding=UTF8&amp;pd_rd_w=UrSg1&amp;content-id=amzn1.sym.9c7b99cf-e985-4bc9-a541-c9a74e21a3f8%3Aamzn1.symc.050ea944-f1cf-4610-b462-3b604f2f4082&amp;pf_rd_p=9c7b99cf-e985-4bc9-a541-c9a74e21a3f8&amp;pf_rd_r=8P4AB8X3KS09JQNV0A4A&amp;pd_rd_wg=cPMsr&amp;pd_rd_r=fc59e516-4c55-42d7-bd10-39a7890649b7&amp;ref_=pd_hp_d_btf_ci_mcx_mr_ca_id_hp_d&amp;th=1"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0"/>
            <a:ext cx="8520600" cy="999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Cocoon Corners for OCC</a:t>
            </a:r>
            <a:endParaRPr/>
          </a:p>
        </p:txBody>
      </p:sp>
      <p:sp>
        <p:nvSpPr>
          <p:cNvPr id="55" name="Google Shape;55;p13"/>
          <p:cNvSpPr txBox="1"/>
          <p:nvPr>
            <p:ph idx="1" type="subTitle"/>
          </p:nvPr>
        </p:nvSpPr>
        <p:spPr>
          <a:xfrm>
            <a:off x="311700" y="41166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solidFill>
                  <a:schemeClr val="dk1"/>
                </a:solidFill>
              </a:rPr>
              <a:t>By: Jacob Mori</a:t>
            </a:r>
            <a:endParaRPr>
              <a:solidFill>
                <a:schemeClr val="dk1"/>
              </a:solidFill>
            </a:endParaRPr>
          </a:p>
          <a:p>
            <a:pPr indent="0" lvl="0" marL="0" rtl="0" algn="ctr">
              <a:spcBef>
                <a:spcPts val="0"/>
              </a:spcBef>
              <a:spcAft>
                <a:spcPts val="0"/>
              </a:spcAft>
              <a:buNone/>
            </a:pPr>
            <a:r>
              <a:rPr lang="en" sz="932">
                <a:solidFill>
                  <a:schemeClr val="dk1"/>
                </a:solidFill>
              </a:rPr>
              <a:t>Special shoutouts: Gautham, Tallulah, Oriana, Manvi, Joseph, Jas, Camila, Tyler, Haeley</a:t>
            </a:r>
            <a:endParaRPr sz="932">
              <a:solidFill>
                <a:schemeClr val="dk1"/>
              </a:solidFill>
            </a:endParaRPr>
          </a:p>
        </p:txBody>
      </p:sp>
      <p:pic>
        <p:nvPicPr>
          <p:cNvPr id="56" name="Google Shape;56;p13" title="Screenshot_12-8-2025_13042_www.canva.com.jpeg"/>
          <p:cNvPicPr preferRelativeResize="0"/>
          <p:nvPr/>
        </p:nvPicPr>
        <p:blipFill>
          <a:blip r:embed="rId3">
            <a:alphaModFix/>
          </a:blip>
          <a:stretch>
            <a:fillRect/>
          </a:stretch>
        </p:blipFill>
        <p:spPr>
          <a:xfrm>
            <a:off x="3094688" y="1102387"/>
            <a:ext cx="2954625" cy="29387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ctrTitle"/>
          </p:nvPr>
        </p:nvSpPr>
        <p:spPr>
          <a:xfrm>
            <a:off x="311700" y="0"/>
            <a:ext cx="8520600" cy="999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Cocoon Corners for OCC</a:t>
            </a:r>
            <a:endParaRPr/>
          </a:p>
        </p:txBody>
      </p:sp>
      <p:sp>
        <p:nvSpPr>
          <p:cNvPr id="62" name="Google Shape;62;p14"/>
          <p:cNvSpPr txBox="1"/>
          <p:nvPr/>
        </p:nvSpPr>
        <p:spPr>
          <a:xfrm>
            <a:off x="0" y="2387100"/>
            <a:ext cx="91440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u="sng">
                <a:solidFill>
                  <a:schemeClr val="dk1"/>
                </a:solidFill>
                <a:hlinkClick r:id="rId3">
                  <a:extLst>
                    <a:ext uri="{A12FA001-AC4F-418D-AE19-62706E023703}">
                      <ahyp:hlinkClr val="tx"/>
                    </a:ext>
                  </a:extLst>
                </a:hlinkClick>
              </a:rPr>
              <a:t>CLICK HERE</a:t>
            </a:r>
            <a:r>
              <a:rPr lang="en" sz="1200">
                <a:solidFill>
                  <a:schemeClr val="dk1"/>
                </a:solidFill>
              </a:rPr>
              <a:t> </a:t>
            </a:r>
            <a:endParaRPr sz="1200">
              <a:solidFill>
                <a:schemeClr val="dk1"/>
              </a:solidFill>
            </a:endParaRPr>
          </a:p>
        </p:txBody>
      </p:sp>
      <p:cxnSp>
        <p:nvCxnSpPr>
          <p:cNvPr id="63" name="Google Shape;63;p14"/>
          <p:cNvCxnSpPr/>
          <p:nvPr/>
        </p:nvCxnSpPr>
        <p:spPr>
          <a:xfrm>
            <a:off x="766275" y="1908150"/>
            <a:ext cx="2904900" cy="576000"/>
          </a:xfrm>
          <a:prstGeom prst="straightConnector1">
            <a:avLst/>
          </a:prstGeom>
          <a:noFill/>
          <a:ln cap="flat" cmpd="sng" w="76200">
            <a:solidFill>
              <a:schemeClr val="dk2"/>
            </a:solidFill>
            <a:prstDash val="solid"/>
            <a:round/>
            <a:headEnd len="med" w="med" type="none"/>
            <a:tailEnd len="med" w="med" type="triangle"/>
          </a:ln>
        </p:spPr>
      </p:cxnSp>
      <p:cxnSp>
        <p:nvCxnSpPr>
          <p:cNvPr id="64" name="Google Shape;64;p14"/>
          <p:cNvCxnSpPr/>
          <p:nvPr/>
        </p:nvCxnSpPr>
        <p:spPr>
          <a:xfrm flipH="1" rot="10800000">
            <a:off x="666100" y="3295400"/>
            <a:ext cx="3498600" cy="1607700"/>
          </a:xfrm>
          <a:prstGeom prst="straightConnector1">
            <a:avLst/>
          </a:prstGeom>
          <a:noFill/>
          <a:ln cap="flat" cmpd="sng" w="76200">
            <a:solidFill>
              <a:schemeClr val="dk2"/>
            </a:solidFill>
            <a:prstDash val="solid"/>
            <a:round/>
            <a:headEnd len="med" w="med" type="none"/>
            <a:tailEnd len="med" w="med" type="triangle"/>
          </a:ln>
        </p:spPr>
      </p:cxnSp>
      <p:cxnSp>
        <p:nvCxnSpPr>
          <p:cNvPr id="65" name="Google Shape;65;p14"/>
          <p:cNvCxnSpPr/>
          <p:nvPr/>
        </p:nvCxnSpPr>
        <p:spPr>
          <a:xfrm flipH="1">
            <a:off x="5383975" y="1231950"/>
            <a:ext cx="3140100" cy="1252200"/>
          </a:xfrm>
          <a:prstGeom prst="straightConnector1">
            <a:avLst/>
          </a:prstGeom>
          <a:noFill/>
          <a:ln cap="flat" cmpd="sng" w="76200">
            <a:solidFill>
              <a:schemeClr val="dk2"/>
            </a:solidFill>
            <a:prstDash val="solid"/>
            <a:round/>
            <a:headEnd len="med" w="med" type="none"/>
            <a:tailEnd len="med" w="med" type="triangle"/>
          </a:ln>
        </p:spPr>
      </p:cxnSp>
      <p:cxnSp>
        <p:nvCxnSpPr>
          <p:cNvPr id="66" name="Google Shape;66;p14"/>
          <p:cNvCxnSpPr/>
          <p:nvPr/>
        </p:nvCxnSpPr>
        <p:spPr>
          <a:xfrm rot="10800000">
            <a:off x="5265250" y="2981325"/>
            <a:ext cx="3173700" cy="1806600"/>
          </a:xfrm>
          <a:prstGeom prst="straightConnector1">
            <a:avLst/>
          </a:prstGeom>
          <a:noFill/>
          <a:ln cap="flat" cmpd="sng" w="76200">
            <a:solidFill>
              <a:schemeClr val="dk2"/>
            </a:solidFill>
            <a:prstDash val="solid"/>
            <a:round/>
            <a:headEnd len="med" w="med" type="none"/>
            <a:tailEnd len="med" w="med" type="triangl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094050" y="72675"/>
            <a:ext cx="2955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Problem Statement </a:t>
            </a:r>
            <a:endParaRPr/>
          </a:p>
        </p:txBody>
      </p:sp>
      <p:sp>
        <p:nvSpPr>
          <p:cNvPr id="72" name="Google Shape;72;p15"/>
          <p:cNvSpPr txBox="1"/>
          <p:nvPr>
            <p:ph idx="1" type="body"/>
          </p:nvPr>
        </p:nvSpPr>
        <p:spPr>
          <a:xfrm>
            <a:off x="311700" y="645375"/>
            <a:ext cx="8520600" cy="3416400"/>
          </a:xfrm>
          <a:prstGeom prst="rect">
            <a:avLst/>
          </a:prstGeom>
        </p:spPr>
        <p:txBody>
          <a:bodyPr anchorCtr="0" anchor="t" bIns="91425" lIns="91425" spcFirstLastPara="1" rIns="91425" wrap="square" tIns="91425">
            <a:normAutofit/>
          </a:bodyPr>
          <a:lstStyle/>
          <a:p>
            <a:pPr indent="-292100" lvl="0" marL="457200" rtl="0" algn="l">
              <a:spcBef>
                <a:spcPts val="0"/>
              </a:spcBef>
              <a:spcAft>
                <a:spcPts val="0"/>
              </a:spcAft>
              <a:buClr>
                <a:schemeClr val="dk1"/>
              </a:buClr>
              <a:buSzPts val="1000"/>
              <a:buChar char="-"/>
            </a:pPr>
            <a:r>
              <a:rPr lang="en" sz="1000">
                <a:solidFill>
                  <a:schemeClr val="dk1"/>
                </a:solidFill>
              </a:rPr>
              <a:t>Some kids get overstimulated in loud and sometimes uncontrollable situations and rooms</a:t>
            </a:r>
            <a:endParaRPr sz="1000">
              <a:solidFill>
                <a:schemeClr val="dk1"/>
              </a:solidFill>
            </a:endParaRPr>
          </a:p>
          <a:p>
            <a:pPr indent="-292100" lvl="0" marL="457200" rtl="0" algn="l">
              <a:spcBef>
                <a:spcPts val="0"/>
              </a:spcBef>
              <a:spcAft>
                <a:spcPts val="0"/>
              </a:spcAft>
              <a:buClr>
                <a:schemeClr val="dk1"/>
              </a:buClr>
              <a:buSzPts val="1000"/>
              <a:buChar char="-"/>
            </a:pPr>
            <a:r>
              <a:rPr lang="en" sz="1000">
                <a:solidFill>
                  <a:schemeClr val="dk1"/>
                </a:solidFill>
              </a:rPr>
              <a:t>There are not enough areas for kids to take time to themselves and to decompress</a:t>
            </a:r>
            <a:endParaRPr sz="1000">
              <a:solidFill>
                <a:schemeClr val="dk1"/>
              </a:solidFill>
            </a:endParaRPr>
          </a:p>
          <a:p>
            <a:pPr indent="-292100" lvl="0" marL="457200" rtl="0" algn="l">
              <a:spcBef>
                <a:spcPts val="0"/>
              </a:spcBef>
              <a:spcAft>
                <a:spcPts val="0"/>
              </a:spcAft>
              <a:buClr>
                <a:schemeClr val="dk1"/>
              </a:buClr>
              <a:buSzPts val="1000"/>
              <a:buChar char="-"/>
            </a:pPr>
            <a:r>
              <a:rPr lang="en" sz="1000">
                <a:solidFill>
                  <a:schemeClr val="dk1"/>
                </a:solidFill>
              </a:rPr>
              <a:t>Churches lack resources for a disability ministry or sensory rooms and corners for neurodiverse kids</a:t>
            </a:r>
            <a:endParaRPr sz="1000">
              <a:solidFill>
                <a:schemeClr val="dk1"/>
              </a:solidFill>
            </a:endParaRPr>
          </a:p>
          <a:p>
            <a:pPr indent="-292100" lvl="0" marL="457200" rtl="0" algn="l">
              <a:spcBef>
                <a:spcPts val="0"/>
              </a:spcBef>
              <a:spcAft>
                <a:spcPts val="0"/>
              </a:spcAft>
              <a:buClr>
                <a:schemeClr val="dk1"/>
              </a:buClr>
              <a:buSzPts val="1000"/>
              <a:buChar char="-"/>
            </a:pPr>
            <a:r>
              <a:rPr lang="en" sz="1000">
                <a:solidFill>
                  <a:schemeClr val="dk1"/>
                </a:solidFill>
              </a:rPr>
              <a:t>Churches sometimes have trouble making sure that all individuals are included and have different things for neurodiverse individuals to do if one activity is not an option</a:t>
            </a:r>
            <a:endParaRPr sz="1000">
              <a:solidFill>
                <a:schemeClr val="dk1"/>
              </a:solidFill>
            </a:endParaRPr>
          </a:p>
          <a:p>
            <a:pPr indent="-292100" lvl="0" marL="457200" rtl="0" algn="l">
              <a:spcBef>
                <a:spcPts val="0"/>
              </a:spcBef>
              <a:spcAft>
                <a:spcPts val="0"/>
              </a:spcAft>
              <a:buClr>
                <a:schemeClr val="dk1"/>
              </a:buClr>
              <a:buSzPts val="1000"/>
              <a:buChar char="-"/>
            </a:pPr>
            <a:r>
              <a:rPr lang="en" sz="1000">
                <a:solidFill>
                  <a:schemeClr val="dk1"/>
                </a:solidFill>
              </a:rPr>
              <a:t>Churches and organizations in general have a hard time creating welcoming spaces for neurodiverse and neurotypical individuals (Everyone should be able to participate in an activity!)</a:t>
            </a:r>
            <a:endParaRPr sz="1000">
              <a:solidFill>
                <a:schemeClr val="dk1"/>
              </a:solidFill>
            </a:endParaRPr>
          </a:p>
          <a:p>
            <a:pPr indent="-292100" lvl="0" marL="457200" rtl="0" algn="l">
              <a:spcBef>
                <a:spcPts val="0"/>
              </a:spcBef>
              <a:spcAft>
                <a:spcPts val="0"/>
              </a:spcAft>
              <a:buClr>
                <a:schemeClr val="dk1"/>
              </a:buClr>
              <a:buSzPts val="1000"/>
              <a:buChar char="-"/>
            </a:pPr>
            <a:r>
              <a:rPr lang="en" sz="1000">
                <a:solidFill>
                  <a:schemeClr val="dk1"/>
                </a:solidFill>
              </a:rPr>
              <a:t>Church volunteers are sometimes not trained to accommodate neurodiverse students.</a:t>
            </a:r>
            <a:endParaRPr sz="1000">
              <a:solidFill>
                <a:schemeClr val="dk1"/>
              </a:solidFill>
            </a:endParaRPr>
          </a:p>
          <a:p>
            <a:pPr indent="-292100" lvl="0" marL="457200" rtl="0" algn="l">
              <a:spcBef>
                <a:spcPts val="0"/>
              </a:spcBef>
              <a:spcAft>
                <a:spcPts val="0"/>
              </a:spcAft>
              <a:buClr>
                <a:schemeClr val="dk1"/>
              </a:buClr>
              <a:buSzPts val="1000"/>
              <a:buChar char="-"/>
            </a:pPr>
            <a:r>
              <a:t/>
            </a:r>
            <a:endParaRPr sz="1000">
              <a:solidFill>
                <a:schemeClr val="dk1"/>
              </a:solidFill>
            </a:endParaRPr>
          </a:p>
        </p:txBody>
      </p:sp>
      <p:pic>
        <p:nvPicPr>
          <p:cNvPr id="73" name="Google Shape;73;p15"/>
          <p:cNvPicPr preferRelativeResize="0"/>
          <p:nvPr/>
        </p:nvPicPr>
        <p:blipFill>
          <a:blip r:embed="rId3">
            <a:alphaModFix/>
          </a:blip>
          <a:stretch>
            <a:fillRect/>
          </a:stretch>
        </p:blipFill>
        <p:spPr>
          <a:xfrm>
            <a:off x="2393799" y="2459075"/>
            <a:ext cx="4159399" cy="2384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ph type="title"/>
          </p:nvPr>
        </p:nvSpPr>
        <p:spPr>
          <a:xfrm>
            <a:off x="255650" y="143200"/>
            <a:ext cx="84675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Ensuring ALL students experience the love of God is a core part of Overlake’s vision!</a:t>
            </a:r>
            <a:endParaRPr/>
          </a:p>
        </p:txBody>
      </p:sp>
      <p:pic>
        <p:nvPicPr>
          <p:cNvPr id="79" name="Google Shape;79;p16"/>
          <p:cNvPicPr preferRelativeResize="0"/>
          <p:nvPr/>
        </p:nvPicPr>
        <p:blipFill>
          <a:blip r:embed="rId3">
            <a:alphaModFix/>
          </a:blip>
          <a:stretch>
            <a:fillRect/>
          </a:stretch>
        </p:blipFill>
        <p:spPr>
          <a:xfrm>
            <a:off x="1234700" y="1923975"/>
            <a:ext cx="6375601" cy="2109450"/>
          </a:xfrm>
          <a:prstGeom prst="rect">
            <a:avLst/>
          </a:prstGeom>
          <a:noFill/>
          <a:ln cap="flat" cmpd="sng" w="28575">
            <a:solidFill>
              <a:schemeClr val="dk2"/>
            </a:solidFill>
            <a:prstDash val="solid"/>
            <a:round/>
            <a:headEnd len="sm" w="sm" type="none"/>
            <a:tailEnd len="sm" w="sm" type="none"/>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this is important to me</a:t>
            </a:r>
            <a:endParaRPr/>
          </a:p>
        </p:txBody>
      </p:sp>
      <p:sp>
        <p:nvSpPr>
          <p:cNvPr id="85" name="Google Shape;85;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 am neurodiverse myself (ADHD) and I want to help children who may be struggling in Sunday School.</a:t>
            </a:r>
            <a:endParaRPr/>
          </a:p>
          <a:p>
            <a:pPr indent="0" lvl="0" marL="0" rtl="0" algn="l">
              <a:spcBef>
                <a:spcPts val="1200"/>
              </a:spcBef>
              <a:spcAft>
                <a:spcPts val="0"/>
              </a:spcAft>
              <a:buNone/>
            </a:pPr>
            <a:r>
              <a:rPr lang="en"/>
              <a:t>-When I was in Sunday school, kids like me didn't have access to sensory areas or even quiet spaces to hang out so we could experience God’s love in a way that worked for us.</a:t>
            </a:r>
            <a:endParaRPr/>
          </a:p>
          <a:p>
            <a:pPr indent="0" lvl="0" marL="0" rtl="0" algn="l">
              <a:spcBef>
                <a:spcPts val="1200"/>
              </a:spcBef>
              <a:spcAft>
                <a:spcPts val="1200"/>
              </a:spcAft>
              <a:buNone/>
            </a:pPr>
            <a:r>
              <a:rPr lang="en"/>
              <a:t>-I was often told to “be quiet” or “sit still”, and would sometimes get taken out of class because I didn’t have anywhere or anyone to help me.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2025 SNP-Reach</a:t>
            </a:r>
            <a:endParaRPr/>
          </a:p>
        </p:txBody>
      </p:sp>
      <p:sp>
        <p:nvSpPr>
          <p:cNvPr id="91" name="Google Shape;91;p18"/>
          <p:cNvSpPr txBox="1"/>
          <p:nvPr>
            <p:ph idx="1" type="body"/>
          </p:nvPr>
        </p:nvSpPr>
        <p:spPr>
          <a:xfrm>
            <a:off x="311700" y="1152475"/>
            <a:ext cx="5100300" cy="34164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t>…My first step was attending the 2025 SNP Reach to understand evidence-based solutions!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u="sng">
                <a:solidFill>
                  <a:schemeClr val="hlink"/>
                </a:solidFill>
                <a:hlinkClick r:id="rId3"/>
              </a:rPr>
              <a:t>https://pmc.ncbi.nlm.nih.gov/articles/PMC9340127/</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u="sng">
                <a:solidFill>
                  <a:schemeClr val="hlink"/>
                </a:solidFill>
                <a:hlinkClick r:id="rId4"/>
              </a:rPr>
              <a:t>https://www.cdc.gov/adhd/treatment/classroom.html</a:t>
            </a:r>
            <a:endParaRPr/>
          </a:p>
          <a:p>
            <a:pPr indent="0" lvl="0" marL="0" rtl="0" algn="l">
              <a:spcBef>
                <a:spcPts val="1200"/>
              </a:spcBef>
              <a:spcAft>
                <a:spcPts val="0"/>
              </a:spcAft>
              <a:buNone/>
            </a:pPr>
            <a:r>
              <a:rPr lang="en"/>
              <a:t>Things that should be included in sensory rooms are, colored or dimmed lighting, bubble tubes, fibre optic cables, Touch, sound, and light boards, Sensory boards, Sensory carpets, Bean bag cushions</a:t>
            </a:r>
            <a:endParaRPr sz="1034"/>
          </a:p>
          <a:p>
            <a:pPr indent="0" lvl="0" marL="0" rtl="0" algn="l">
              <a:spcBef>
                <a:spcPts val="1200"/>
              </a:spcBef>
              <a:spcAft>
                <a:spcPts val="1200"/>
              </a:spcAft>
              <a:buNone/>
            </a:pPr>
            <a:r>
              <a:t/>
            </a:r>
            <a:endParaRPr/>
          </a:p>
        </p:txBody>
      </p:sp>
      <p:pic>
        <p:nvPicPr>
          <p:cNvPr id="92" name="Google Shape;92;p18"/>
          <p:cNvPicPr preferRelativeResize="0"/>
          <p:nvPr/>
        </p:nvPicPr>
        <p:blipFill>
          <a:blip r:embed="rId5">
            <a:alphaModFix/>
          </a:blip>
          <a:stretch>
            <a:fillRect/>
          </a:stretch>
        </p:blipFill>
        <p:spPr>
          <a:xfrm>
            <a:off x="5160949" y="155325"/>
            <a:ext cx="3377125" cy="2781150"/>
          </a:xfrm>
          <a:prstGeom prst="rect">
            <a:avLst/>
          </a:prstGeom>
          <a:noFill/>
          <a:ln>
            <a:noFill/>
          </a:ln>
        </p:spPr>
      </p:pic>
      <p:pic>
        <p:nvPicPr>
          <p:cNvPr id="93" name="Google Shape;93;p18"/>
          <p:cNvPicPr preferRelativeResize="0"/>
          <p:nvPr/>
        </p:nvPicPr>
        <p:blipFill>
          <a:blip r:embed="rId6">
            <a:alphaModFix/>
          </a:blip>
          <a:stretch>
            <a:fillRect/>
          </a:stretch>
        </p:blipFill>
        <p:spPr>
          <a:xfrm>
            <a:off x="6652901" y="2838225"/>
            <a:ext cx="1937550" cy="21759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pic>
        <p:nvPicPr>
          <p:cNvPr id="98" name="Google Shape;98;p19"/>
          <p:cNvPicPr preferRelativeResize="0"/>
          <p:nvPr/>
        </p:nvPicPr>
        <p:blipFill>
          <a:blip r:embed="rId3">
            <a:alphaModFix/>
          </a:blip>
          <a:stretch>
            <a:fillRect/>
          </a:stretch>
        </p:blipFill>
        <p:spPr>
          <a:xfrm>
            <a:off x="122650" y="271325"/>
            <a:ext cx="4292224" cy="4838700"/>
          </a:xfrm>
          <a:prstGeom prst="rect">
            <a:avLst/>
          </a:prstGeom>
          <a:noFill/>
          <a:ln>
            <a:noFill/>
          </a:ln>
        </p:spPr>
      </p:pic>
      <p:pic>
        <p:nvPicPr>
          <p:cNvPr id="99" name="Google Shape;99;p19"/>
          <p:cNvPicPr preferRelativeResize="0"/>
          <p:nvPr/>
        </p:nvPicPr>
        <p:blipFill>
          <a:blip r:embed="rId4">
            <a:alphaModFix/>
          </a:blip>
          <a:stretch>
            <a:fillRect/>
          </a:stretch>
        </p:blipFill>
        <p:spPr>
          <a:xfrm>
            <a:off x="4444624" y="514650"/>
            <a:ext cx="4394575" cy="4114192"/>
          </a:xfrm>
          <a:prstGeom prst="rect">
            <a:avLst/>
          </a:prstGeom>
          <a:noFill/>
          <a:ln>
            <a:noFill/>
          </a:ln>
        </p:spPr>
      </p:pic>
      <p:cxnSp>
        <p:nvCxnSpPr>
          <p:cNvPr id="100" name="Google Shape;100;p19"/>
          <p:cNvCxnSpPr/>
          <p:nvPr/>
        </p:nvCxnSpPr>
        <p:spPr>
          <a:xfrm>
            <a:off x="4513100" y="1357750"/>
            <a:ext cx="952500" cy="8100"/>
          </a:xfrm>
          <a:prstGeom prst="straightConnector1">
            <a:avLst/>
          </a:prstGeom>
          <a:noFill/>
          <a:ln cap="flat" cmpd="sng" w="38100">
            <a:solidFill>
              <a:schemeClr val="dk2"/>
            </a:solidFill>
            <a:prstDash val="solid"/>
            <a:round/>
            <a:headEnd len="med" w="med" type="none"/>
            <a:tailEnd len="med" w="med" type="none"/>
          </a:ln>
        </p:spPr>
      </p:cxnSp>
      <p:cxnSp>
        <p:nvCxnSpPr>
          <p:cNvPr id="101" name="Google Shape;101;p19"/>
          <p:cNvCxnSpPr/>
          <p:nvPr/>
        </p:nvCxnSpPr>
        <p:spPr>
          <a:xfrm flipH="1" rot="10800000">
            <a:off x="4513100" y="1607825"/>
            <a:ext cx="2292600" cy="15300"/>
          </a:xfrm>
          <a:prstGeom prst="straightConnector1">
            <a:avLst/>
          </a:prstGeom>
          <a:noFill/>
          <a:ln cap="flat" cmpd="sng" w="38100">
            <a:solidFill>
              <a:schemeClr val="dk2"/>
            </a:solidFill>
            <a:prstDash val="solid"/>
            <a:round/>
            <a:headEnd len="med" w="med" type="none"/>
            <a:tailEnd len="med" w="med" type="none"/>
          </a:ln>
        </p:spPr>
      </p:cxnSp>
      <p:cxnSp>
        <p:nvCxnSpPr>
          <p:cNvPr id="102" name="Google Shape;102;p19"/>
          <p:cNvCxnSpPr/>
          <p:nvPr/>
        </p:nvCxnSpPr>
        <p:spPr>
          <a:xfrm>
            <a:off x="5116550" y="2905625"/>
            <a:ext cx="952500" cy="8100"/>
          </a:xfrm>
          <a:prstGeom prst="straightConnector1">
            <a:avLst/>
          </a:prstGeom>
          <a:noFill/>
          <a:ln cap="flat" cmpd="sng" w="38100">
            <a:solidFill>
              <a:schemeClr val="dk2"/>
            </a:solidFill>
            <a:prstDash val="solid"/>
            <a:round/>
            <a:headEnd len="med" w="med" type="none"/>
            <a:tailEnd len="med" w="med"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should we adapt Sunday School rooms to meet the needs of neurodiverse students?</a:t>
            </a:r>
            <a:endParaRPr/>
          </a:p>
        </p:txBody>
      </p:sp>
      <p:sp>
        <p:nvSpPr>
          <p:cNvPr id="108" name="Google Shape;108;p20"/>
          <p:cNvSpPr txBox="1"/>
          <p:nvPr>
            <p:ph idx="1" type="body"/>
          </p:nvPr>
        </p:nvSpPr>
        <p:spPr>
          <a:xfrm>
            <a:off x="177900" y="1323475"/>
            <a:ext cx="49665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u="sng">
                <a:solidFill>
                  <a:schemeClr val="hlink"/>
                </a:solidFill>
                <a:hlinkClick r:id="rId3"/>
              </a:rPr>
              <a:t>https://buildfaith.org/neurodiversity-in-the-classroom/</a:t>
            </a:r>
            <a:endParaRPr/>
          </a:p>
          <a:p>
            <a:pPr indent="0" lvl="0" marL="0" rtl="0" algn="l">
              <a:spcBef>
                <a:spcPts val="1200"/>
              </a:spcBef>
              <a:spcAft>
                <a:spcPts val="0"/>
              </a:spcAft>
              <a:buNone/>
            </a:pPr>
            <a:r>
              <a:rPr lang="en" u="sng">
                <a:solidFill>
                  <a:schemeClr val="hlink"/>
                </a:solidFill>
                <a:hlinkClick r:id="rId4"/>
              </a:rPr>
              <a:t>https://shinecurriculum.com/2023/09/13/elementor-20951/</a:t>
            </a:r>
            <a:endParaRPr/>
          </a:p>
          <a:p>
            <a:pPr indent="0" lvl="0" marL="0" rtl="0" algn="l">
              <a:spcBef>
                <a:spcPts val="1200"/>
              </a:spcBef>
              <a:spcAft>
                <a:spcPts val="0"/>
              </a:spcAft>
              <a:buNone/>
            </a:pPr>
            <a:r>
              <a:rPr lang="en" u="sng">
                <a:solidFill>
                  <a:schemeClr val="hlink"/>
                </a:solidFill>
                <a:hlinkClick r:id="rId5"/>
              </a:rPr>
              <a:t>https://www.weareprogressive.com/insights/universal-design-tips-that-support-a-neurodiverse-classroom</a:t>
            </a:r>
            <a:r>
              <a:rPr lang="en"/>
              <a:t>\</a:t>
            </a:r>
            <a:endParaRPr/>
          </a:p>
          <a:p>
            <a:pPr indent="0" lvl="0" marL="0" rtl="0" algn="l">
              <a:spcBef>
                <a:spcPts val="1200"/>
              </a:spcBef>
              <a:spcAft>
                <a:spcPts val="0"/>
              </a:spcAft>
              <a:buClr>
                <a:schemeClr val="dk1"/>
              </a:buClr>
              <a:buSzPts val="1100"/>
              <a:buFont typeface="Arial"/>
              <a:buNone/>
            </a:pPr>
            <a:r>
              <a:rPr lang="en"/>
              <a:t>https://www.sensoryfriendly.net/easy-steps-to-create-a-sensory-room-at-church/</a:t>
            </a:r>
            <a:endParaRPr/>
          </a:p>
          <a:p>
            <a:pPr indent="0" lvl="0" marL="0" rtl="0" algn="l">
              <a:spcBef>
                <a:spcPts val="1200"/>
              </a:spcBef>
              <a:spcAft>
                <a:spcPts val="1200"/>
              </a:spcAft>
              <a:buNone/>
            </a:pPr>
            <a:r>
              <a:t/>
            </a:r>
            <a:endParaRPr/>
          </a:p>
        </p:txBody>
      </p:sp>
      <p:sp>
        <p:nvSpPr>
          <p:cNvPr id="109" name="Google Shape;109;p20"/>
          <p:cNvSpPr txBox="1"/>
          <p:nvPr/>
        </p:nvSpPr>
        <p:spPr>
          <a:xfrm>
            <a:off x="5832300" y="2059250"/>
            <a:ext cx="3000000" cy="1736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n" sz="1800">
                <a:solidFill>
                  <a:schemeClr val="dk2"/>
                </a:solidFill>
              </a:rPr>
              <a:t>Please summarize what should be in Church cocoons and sensory spaces based on these articles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1"/>
          <p:cNvSpPr txBox="1"/>
          <p:nvPr>
            <p:ph type="title"/>
          </p:nvPr>
        </p:nvSpPr>
        <p:spPr>
          <a:xfrm>
            <a:off x="204650" y="411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Cocoon corners: Key Principles </a:t>
            </a:r>
            <a:endParaRPr/>
          </a:p>
        </p:txBody>
      </p:sp>
      <p:sp>
        <p:nvSpPr>
          <p:cNvPr id="115" name="Google Shape;115;p21"/>
          <p:cNvSpPr txBox="1"/>
          <p:nvPr>
            <p:ph idx="1" type="body"/>
          </p:nvPr>
        </p:nvSpPr>
        <p:spPr>
          <a:xfrm>
            <a:off x="0" y="613825"/>
            <a:ext cx="5731800" cy="23226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Clr>
                <a:schemeClr val="dk1"/>
              </a:buClr>
              <a:buSzPts val="1100"/>
              <a:buChar char="-"/>
            </a:pPr>
            <a:r>
              <a:rPr lang="en" sz="1100">
                <a:solidFill>
                  <a:schemeClr val="dk1"/>
                </a:solidFill>
              </a:rPr>
              <a:t>Have corners in all early elementary classrooms (“cocoon corners”)</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In each “cocoon corner,” include a quiet zone for students who need a calm, retreat-like environment, as well as a comfortable area to decompress</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The cocoon corners have a lot of fidgets so kids have something sensory to focus on</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Use soft, adjustable lighting in these areas to create a soothing atmosphere and reduce overstimulation.</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Use sensory-friendly materials that offer additional comfort and tactile feedback.</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Add reading material and things to do</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Ensure the cocoons are modular (so they can be moved easily)</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Make the cocoon corners easy to use and understand for all volunteers.</a:t>
            </a:r>
            <a:endParaRPr sz="1100">
              <a:solidFill>
                <a:schemeClr val="dk1"/>
              </a:solidFill>
            </a:endParaRPr>
          </a:p>
        </p:txBody>
      </p:sp>
      <p:pic>
        <p:nvPicPr>
          <p:cNvPr id="116" name="Google Shape;116;p21"/>
          <p:cNvPicPr preferRelativeResize="0"/>
          <p:nvPr/>
        </p:nvPicPr>
        <p:blipFill>
          <a:blip r:embed="rId3">
            <a:alphaModFix/>
          </a:blip>
          <a:stretch>
            <a:fillRect/>
          </a:stretch>
        </p:blipFill>
        <p:spPr>
          <a:xfrm>
            <a:off x="7318125" y="84925"/>
            <a:ext cx="1616100" cy="1212075"/>
          </a:xfrm>
          <a:prstGeom prst="rect">
            <a:avLst/>
          </a:prstGeom>
          <a:noFill/>
          <a:ln>
            <a:noFill/>
          </a:ln>
        </p:spPr>
      </p:pic>
      <p:pic>
        <p:nvPicPr>
          <p:cNvPr id="117" name="Google Shape;117;p21"/>
          <p:cNvPicPr preferRelativeResize="0"/>
          <p:nvPr/>
        </p:nvPicPr>
        <p:blipFill>
          <a:blip r:embed="rId4">
            <a:alphaModFix/>
          </a:blip>
          <a:stretch>
            <a:fillRect/>
          </a:stretch>
        </p:blipFill>
        <p:spPr>
          <a:xfrm>
            <a:off x="7329775" y="1459963"/>
            <a:ext cx="1592775" cy="1592775"/>
          </a:xfrm>
          <a:prstGeom prst="rect">
            <a:avLst/>
          </a:prstGeom>
          <a:noFill/>
          <a:ln>
            <a:noFill/>
          </a:ln>
        </p:spPr>
      </p:pic>
      <p:pic>
        <p:nvPicPr>
          <p:cNvPr id="118" name="Google Shape;118;p21"/>
          <p:cNvPicPr preferRelativeResize="0"/>
          <p:nvPr/>
        </p:nvPicPr>
        <p:blipFill>
          <a:blip r:embed="rId5">
            <a:alphaModFix/>
          </a:blip>
          <a:stretch>
            <a:fillRect/>
          </a:stretch>
        </p:blipFill>
        <p:spPr>
          <a:xfrm>
            <a:off x="7119675" y="3215712"/>
            <a:ext cx="1720290" cy="1720290"/>
          </a:xfrm>
          <a:prstGeom prst="rect">
            <a:avLst/>
          </a:prstGeom>
          <a:noFill/>
          <a:ln>
            <a:noFill/>
          </a:ln>
        </p:spPr>
      </p:pic>
      <p:pic>
        <p:nvPicPr>
          <p:cNvPr id="119" name="Google Shape;119;p21" title="Screenshot_31-8-2025_16100_www.bing.com.jpeg"/>
          <p:cNvPicPr preferRelativeResize="0"/>
          <p:nvPr/>
        </p:nvPicPr>
        <p:blipFill>
          <a:blip r:embed="rId6">
            <a:alphaModFix/>
          </a:blip>
          <a:stretch>
            <a:fillRect/>
          </a:stretch>
        </p:blipFill>
        <p:spPr>
          <a:xfrm>
            <a:off x="162898" y="3062375"/>
            <a:ext cx="1178251" cy="1819475"/>
          </a:xfrm>
          <a:prstGeom prst="rect">
            <a:avLst/>
          </a:prstGeom>
          <a:noFill/>
          <a:ln>
            <a:noFill/>
          </a:ln>
        </p:spPr>
      </p:pic>
      <p:pic>
        <p:nvPicPr>
          <p:cNvPr id="120" name="Google Shape;120;p21" title="Screenshot_31-8-2025_16948_www.bing.com.jpeg"/>
          <p:cNvPicPr preferRelativeResize="0"/>
          <p:nvPr/>
        </p:nvPicPr>
        <p:blipFill>
          <a:blip r:embed="rId7">
            <a:alphaModFix/>
          </a:blip>
          <a:stretch>
            <a:fillRect/>
          </a:stretch>
        </p:blipFill>
        <p:spPr>
          <a:xfrm>
            <a:off x="1401989" y="3062376"/>
            <a:ext cx="3383412" cy="1819475"/>
          </a:xfrm>
          <a:prstGeom prst="rect">
            <a:avLst/>
          </a:prstGeom>
          <a:noFill/>
          <a:ln>
            <a:noFill/>
          </a:ln>
        </p:spPr>
      </p:pic>
      <p:pic>
        <p:nvPicPr>
          <p:cNvPr id="121" name="Google Shape;121;p21" title="Screenshot_31-8-2025_161058_www.bing.com.jpeg"/>
          <p:cNvPicPr preferRelativeResize="0"/>
          <p:nvPr/>
        </p:nvPicPr>
        <p:blipFill>
          <a:blip r:embed="rId8">
            <a:alphaModFix/>
          </a:blip>
          <a:stretch>
            <a:fillRect/>
          </a:stretch>
        </p:blipFill>
        <p:spPr>
          <a:xfrm>
            <a:off x="5847972" y="41122"/>
            <a:ext cx="1085325" cy="1470725"/>
          </a:xfrm>
          <a:prstGeom prst="rect">
            <a:avLst/>
          </a:prstGeom>
          <a:noFill/>
          <a:ln>
            <a:noFill/>
          </a:ln>
        </p:spPr>
      </p:pic>
      <p:pic>
        <p:nvPicPr>
          <p:cNvPr id="122" name="Google Shape;122;p21"/>
          <p:cNvPicPr preferRelativeResize="0"/>
          <p:nvPr/>
        </p:nvPicPr>
        <p:blipFill>
          <a:blip r:embed="rId9">
            <a:alphaModFix/>
          </a:blip>
          <a:stretch>
            <a:fillRect/>
          </a:stretch>
        </p:blipFill>
        <p:spPr>
          <a:xfrm>
            <a:off x="4906450" y="3008225"/>
            <a:ext cx="1927775" cy="19277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2"/>
          <p:cNvSpPr txBox="1"/>
          <p:nvPr>
            <p:ph type="title"/>
          </p:nvPr>
        </p:nvSpPr>
        <p:spPr>
          <a:xfrm>
            <a:off x="311700" y="1003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 am going to build</a:t>
            </a:r>
            <a:endParaRPr/>
          </a:p>
        </p:txBody>
      </p:sp>
      <p:pic>
        <p:nvPicPr>
          <p:cNvPr id="128" name="Google Shape;128;p22"/>
          <p:cNvPicPr preferRelativeResize="0"/>
          <p:nvPr/>
        </p:nvPicPr>
        <p:blipFill rotWithShape="1">
          <a:blip r:embed="rId3">
            <a:alphaModFix/>
          </a:blip>
          <a:srcRect b="0" l="0" r="44901" t="43586"/>
          <a:stretch/>
        </p:blipFill>
        <p:spPr>
          <a:xfrm>
            <a:off x="1879437" y="932226"/>
            <a:ext cx="4851350" cy="3750466"/>
          </a:xfrm>
          <a:prstGeom prst="rect">
            <a:avLst/>
          </a:prstGeom>
          <a:noFill/>
          <a:ln>
            <a:noFill/>
          </a:ln>
        </p:spPr>
      </p:pic>
      <p:sp>
        <p:nvSpPr>
          <p:cNvPr id="129" name="Google Shape;129;p22"/>
          <p:cNvSpPr txBox="1"/>
          <p:nvPr/>
        </p:nvSpPr>
        <p:spPr>
          <a:xfrm>
            <a:off x="236525" y="1494150"/>
            <a:ext cx="13413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t/>
            </a:r>
            <a:endParaRPr sz="900">
              <a:solidFill>
                <a:schemeClr val="dk2"/>
              </a:solidFill>
            </a:endParaRPr>
          </a:p>
          <a:p>
            <a:pPr indent="0" lvl="0" marL="0" rtl="0" algn="l">
              <a:spcBef>
                <a:spcPts val="0"/>
              </a:spcBef>
              <a:spcAft>
                <a:spcPts val="0"/>
              </a:spcAft>
              <a:buNone/>
            </a:pPr>
            <a:r>
              <a:rPr lang="en" sz="900">
                <a:solidFill>
                  <a:schemeClr val="dk2"/>
                </a:solidFill>
              </a:rPr>
              <a:t>Pre-fabricated benches as a a</a:t>
            </a:r>
            <a:endParaRPr sz="900">
              <a:solidFill>
                <a:schemeClr val="dk2"/>
              </a:solidFill>
            </a:endParaRPr>
          </a:p>
          <a:p>
            <a:pPr indent="0" lvl="0" marL="0" rtl="0" algn="l">
              <a:spcBef>
                <a:spcPts val="0"/>
              </a:spcBef>
              <a:spcAft>
                <a:spcPts val="0"/>
              </a:spcAft>
              <a:buClr>
                <a:schemeClr val="dk1"/>
              </a:buClr>
              <a:buSzPts val="1100"/>
              <a:buFont typeface="Arial"/>
              <a:buNone/>
            </a:pPr>
            <a:r>
              <a:t/>
            </a:r>
            <a:endParaRPr sz="900">
              <a:solidFill>
                <a:schemeClr val="dk2"/>
              </a:solidFill>
            </a:endParaRPr>
          </a:p>
          <a:p>
            <a:pPr indent="0" lvl="0" marL="0" rtl="0" algn="l">
              <a:spcBef>
                <a:spcPts val="0"/>
              </a:spcBef>
              <a:spcAft>
                <a:spcPts val="0"/>
              </a:spcAft>
              <a:buNone/>
            </a:pPr>
            <a:r>
              <a:rPr lang="en" sz="900">
                <a:solidFill>
                  <a:schemeClr val="dk2"/>
                </a:solidFill>
              </a:rPr>
              <a:t>Storage for fidgets and sensory objects</a:t>
            </a:r>
            <a:endParaRPr sz="900">
              <a:solidFill>
                <a:schemeClr val="dk2"/>
              </a:solidFill>
            </a:endParaRPr>
          </a:p>
        </p:txBody>
      </p:sp>
      <p:sp>
        <p:nvSpPr>
          <p:cNvPr id="130" name="Google Shape;130;p22"/>
          <p:cNvSpPr txBox="1"/>
          <p:nvPr/>
        </p:nvSpPr>
        <p:spPr>
          <a:xfrm>
            <a:off x="279000" y="3636313"/>
            <a:ext cx="1341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2"/>
                </a:solidFill>
              </a:rPr>
              <a:t>Calming colors throughout</a:t>
            </a:r>
            <a:endParaRPr sz="900">
              <a:solidFill>
                <a:schemeClr val="dk2"/>
              </a:solidFill>
            </a:endParaRPr>
          </a:p>
        </p:txBody>
      </p:sp>
      <p:sp>
        <p:nvSpPr>
          <p:cNvPr id="131" name="Google Shape;131;p22"/>
          <p:cNvSpPr txBox="1"/>
          <p:nvPr/>
        </p:nvSpPr>
        <p:spPr>
          <a:xfrm>
            <a:off x="6946200" y="1509750"/>
            <a:ext cx="20199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2"/>
                </a:solidFill>
              </a:rPr>
              <a:t>PVC “cocoon” shell to make storage and transport easy.</a:t>
            </a:r>
            <a:endParaRPr sz="900">
              <a:solidFill>
                <a:schemeClr val="dk2"/>
              </a:solidFill>
            </a:endParaRPr>
          </a:p>
          <a:p>
            <a:pPr indent="0" lvl="0" marL="0" rtl="0" algn="l">
              <a:spcBef>
                <a:spcPts val="0"/>
              </a:spcBef>
              <a:spcAft>
                <a:spcPts val="0"/>
              </a:spcAft>
              <a:buNone/>
            </a:pPr>
            <a:r>
              <a:t/>
            </a:r>
            <a:endParaRPr sz="900">
              <a:solidFill>
                <a:schemeClr val="dk2"/>
              </a:solidFill>
            </a:endParaRPr>
          </a:p>
          <a:p>
            <a:pPr indent="0" lvl="0" marL="0" rtl="0" algn="l">
              <a:spcBef>
                <a:spcPts val="0"/>
              </a:spcBef>
              <a:spcAft>
                <a:spcPts val="0"/>
              </a:spcAft>
              <a:buNone/>
            </a:pPr>
            <a:r>
              <a:rPr lang="en" sz="900">
                <a:solidFill>
                  <a:schemeClr val="dk2"/>
                </a:solidFill>
              </a:rPr>
              <a:t>Soft (washable) fabrics to block light.</a:t>
            </a:r>
            <a:endParaRPr sz="900">
              <a:solidFill>
                <a:schemeClr val="dk2"/>
              </a:solidFill>
            </a:endParaRPr>
          </a:p>
          <a:p>
            <a:pPr indent="0" lvl="0" marL="0" rtl="0" algn="l">
              <a:spcBef>
                <a:spcPts val="0"/>
              </a:spcBef>
              <a:spcAft>
                <a:spcPts val="0"/>
              </a:spcAft>
              <a:buNone/>
            </a:pPr>
            <a:r>
              <a:t/>
            </a:r>
            <a:endParaRPr sz="900">
              <a:solidFill>
                <a:schemeClr val="dk2"/>
              </a:solidFill>
            </a:endParaRPr>
          </a:p>
          <a:p>
            <a:pPr indent="0" lvl="0" marL="0" rtl="0" algn="l">
              <a:spcBef>
                <a:spcPts val="0"/>
              </a:spcBef>
              <a:spcAft>
                <a:spcPts val="0"/>
              </a:spcAft>
              <a:buNone/>
            </a:pPr>
            <a:r>
              <a:rPr lang="en" sz="900">
                <a:solidFill>
                  <a:schemeClr val="dk2"/>
                </a:solidFill>
              </a:rPr>
              <a:t>Sheer front curtain for visibility</a:t>
            </a:r>
            <a:endParaRPr sz="900">
              <a:solidFill>
                <a:schemeClr val="dk2"/>
              </a:solidFill>
            </a:endParaRPr>
          </a:p>
          <a:p>
            <a:pPr indent="0" lvl="0" marL="0" rtl="0" algn="l">
              <a:spcBef>
                <a:spcPts val="0"/>
              </a:spcBef>
              <a:spcAft>
                <a:spcPts val="0"/>
              </a:spcAft>
              <a:buNone/>
            </a:pPr>
            <a:r>
              <a:t/>
            </a:r>
            <a:endParaRPr sz="900">
              <a:solidFill>
                <a:schemeClr val="dk2"/>
              </a:solidFill>
            </a:endParaRPr>
          </a:p>
          <a:p>
            <a:pPr indent="0" lvl="0" marL="0" rtl="0" algn="l">
              <a:spcBef>
                <a:spcPts val="0"/>
              </a:spcBef>
              <a:spcAft>
                <a:spcPts val="0"/>
              </a:spcAft>
              <a:buNone/>
            </a:pPr>
            <a:r>
              <a:rPr lang="en" sz="900">
                <a:solidFill>
                  <a:schemeClr val="dk2"/>
                </a:solidFill>
              </a:rPr>
              <a:t>Comfortable sitting area with calming colors and fabrics</a:t>
            </a:r>
            <a:endParaRPr sz="900">
              <a:solidFill>
                <a:schemeClr val="dk2"/>
              </a:solidFill>
            </a:endParaRPr>
          </a:p>
          <a:p>
            <a:pPr indent="0" lvl="0" marL="0" rtl="0" algn="l">
              <a:spcBef>
                <a:spcPts val="0"/>
              </a:spcBef>
              <a:spcAft>
                <a:spcPts val="0"/>
              </a:spcAft>
              <a:buNone/>
            </a:pPr>
            <a:r>
              <a:t/>
            </a:r>
            <a:endParaRPr sz="900">
              <a:solidFill>
                <a:schemeClr val="dk2"/>
              </a:solidFill>
            </a:endParaRPr>
          </a:p>
          <a:p>
            <a:pPr indent="0" lvl="0" marL="0" rtl="0" algn="l">
              <a:spcBef>
                <a:spcPts val="0"/>
              </a:spcBef>
              <a:spcAft>
                <a:spcPts val="0"/>
              </a:spcAft>
              <a:buNone/>
            </a:pPr>
            <a:r>
              <a:rPr lang="en" sz="900">
                <a:solidFill>
                  <a:schemeClr val="dk2"/>
                </a:solidFill>
              </a:rPr>
              <a:t>Cost effective using safe and kid-friendly materials.</a:t>
            </a:r>
            <a:endParaRPr sz="900">
              <a:solidFill>
                <a:schemeClr val="dk2"/>
              </a:solidFill>
            </a:endParaRPr>
          </a:p>
          <a:p>
            <a:pPr indent="0" lvl="0" marL="0" rtl="0" algn="l">
              <a:spcBef>
                <a:spcPts val="0"/>
              </a:spcBef>
              <a:spcAft>
                <a:spcPts val="0"/>
              </a:spcAft>
              <a:buNone/>
            </a:pPr>
            <a:r>
              <a:t/>
            </a:r>
            <a:endParaRPr sz="9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Ideas for fidgets and sensory objects</a:t>
            </a:r>
            <a:endParaRPr/>
          </a:p>
        </p:txBody>
      </p:sp>
      <p:sp>
        <p:nvSpPr>
          <p:cNvPr id="137" name="Google Shape;137;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Squish ball</a:t>
            </a:r>
            <a:endParaRPr/>
          </a:p>
          <a:p>
            <a:pPr indent="-342900" lvl="0" marL="457200" rtl="0" algn="l">
              <a:spcBef>
                <a:spcPts val="0"/>
              </a:spcBef>
              <a:spcAft>
                <a:spcPts val="0"/>
              </a:spcAft>
              <a:buSzPts val="1800"/>
              <a:buChar char="-"/>
            </a:pPr>
            <a:r>
              <a:rPr lang="en"/>
              <a:t>Fidget Spinners</a:t>
            </a:r>
            <a:endParaRPr/>
          </a:p>
          <a:p>
            <a:pPr indent="-342900" lvl="0" marL="457200" rtl="0" algn="l">
              <a:spcBef>
                <a:spcPts val="0"/>
              </a:spcBef>
              <a:spcAft>
                <a:spcPts val="0"/>
              </a:spcAft>
              <a:buSzPts val="1800"/>
              <a:buChar char="-"/>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4"/>
          <p:cNvSpPr txBox="1"/>
          <p:nvPr>
            <p:ph type="title"/>
          </p:nvPr>
        </p:nvSpPr>
        <p:spPr>
          <a:xfrm>
            <a:off x="224150" y="346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Timeline</a:t>
            </a:r>
            <a:endParaRPr/>
          </a:p>
        </p:txBody>
      </p:sp>
      <p:sp>
        <p:nvSpPr>
          <p:cNvPr id="143" name="Google Shape;143;p24"/>
          <p:cNvSpPr txBox="1"/>
          <p:nvPr>
            <p:ph idx="1" type="body"/>
          </p:nvPr>
        </p:nvSpPr>
        <p:spPr>
          <a:xfrm>
            <a:off x="311700" y="541700"/>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Attend SNP Reach to understand evidence-based solutions for neurodiverse students in classrooms.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Research how to build calming corners in church environments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Approvals (Boy Scouts, Overlake)</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Fundraising</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Create training materials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For actual project, build/install would be 4 days: </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Day 1: Building the reading area </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Day 2: Sewing the cushions and curtains</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Day 3: Installing the corners in the classrooms</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Day 4 (before Sunday service): Train volunteers on the new corners</a:t>
            </a:r>
            <a:endParaRPr>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 need to buy:</a:t>
            </a:r>
            <a:endParaRPr/>
          </a:p>
        </p:txBody>
      </p:sp>
      <p:sp>
        <p:nvSpPr>
          <p:cNvPr id="149" name="Google Shape;149;p25"/>
          <p:cNvSpPr txBox="1"/>
          <p:nvPr>
            <p:ph idx="1" type="body"/>
          </p:nvPr>
        </p:nvSpPr>
        <p:spPr>
          <a:xfrm>
            <a:off x="311700" y="1152475"/>
            <a:ext cx="8520600" cy="38055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solidFill>
                  <a:schemeClr val="dk1"/>
                </a:solidFill>
              </a:rPr>
              <a:t>Dimmed lights plug version - </a:t>
            </a:r>
            <a:r>
              <a:rPr lang="en" sz="1100" u="sng">
                <a:solidFill>
                  <a:schemeClr val="hlink"/>
                </a:solidFill>
                <a:hlinkClick r:id="rId3"/>
              </a:rPr>
              <a:t>Link</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Sensory water tower - </a:t>
            </a:r>
            <a:r>
              <a:rPr lang="en" sz="1100" u="sng">
                <a:solidFill>
                  <a:schemeClr val="hlink"/>
                </a:solidFill>
                <a:hlinkClick r:id="rId4"/>
              </a:rPr>
              <a:t>Link</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Sensory Board - </a:t>
            </a:r>
            <a:r>
              <a:rPr lang="en" sz="1100" u="sng">
                <a:solidFill>
                  <a:schemeClr val="hlink"/>
                </a:solidFill>
                <a:hlinkClick r:id="rId5"/>
              </a:rPr>
              <a:t>Link</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Block toy - </a:t>
            </a:r>
            <a:r>
              <a:rPr lang="en" sz="1100" u="sng">
                <a:solidFill>
                  <a:schemeClr val="hlink"/>
                </a:solidFill>
                <a:hlinkClick r:id="rId6"/>
              </a:rPr>
              <a:t>Link</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Wood for structure building </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Sensory magnets - </a:t>
            </a:r>
            <a:r>
              <a:rPr lang="en" sz="1100" u="sng">
                <a:solidFill>
                  <a:schemeClr val="hlink"/>
                </a:solidFill>
                <a:hlinkClick r:id="rId7"/>
              </a:rPr>
              <a:t>Link</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Bubble tubes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Fibre Optic cables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Bean bags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Carpets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Sensory pads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A lot of other things</a:t>
            </a:r>
            <a:endParaRPr>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6"/>
          <p:cNvSpPr txBox="1"/>
          <p:nvPr>
            <p:ph type="title"/>
          </p:nvPr>
        </p:nvSpPr>
        <p:spPr>
          <a:xfrm>
            <a:off x="0" y="0"/>
            <a:ext cx="8553300" cy="633900"/>
          </a:xfrm>
          <a:prstGeom prst="rect">
            <a:avLst/>
          </a:prstGeom>
        </p:spPr>
        <p:txBody>
          <a:bodyPr anchorCtr="0" anchor="t" bIns="91425" lIns="91425" spcFirstLastPara="1" rIns="91425" wrap="square" tIns="91425">
            <a:noAutofit/>
          </a:bodyPr>
          <a:lstStyle/>
          <a:p>
            <a:pPr indent="-431800" lvl="0" marL="457200" rtl="0" algn="l">
              <a:lnSpc>
                <a:spcPct val="115000"/>
              </a:lnSpc>
              <a:spcBef>
                <a:spcPts val="0"/>
              </a:spcBef>
              <a:spcAft>
                <a:spcPts val="0"/>
              </a:spcAft>
              <a:buClr>
                <a:schemeClr val="dk1"/>
              </a:buClr>
              <a:buSzPts val="3200"/>
              <a:buChar char="-"/>
            </a:pPr>
            <a:r>
              <a:rPr lang="en" sz="3200"/>
              <a:t>Questions and requests for Pastor Tina:</a:t>
            </a:r>
            <a:endParaRPr sz="4200"/>
          </a:p>
        </p:txBody>
      </p:sp>
      <p:sp>
        <p:nvSpPr>
          <p:cNvPr id="155" name="Google Shape;155;p26"/>
          <p:cNvSpPr txBox="1"/>
          <p:nvPr>
            <p:ph idx="1" type="body"/>
          </p:nvPr>
        </p:nvSpPr>
        <p:spPr>
          <a:xfrm>
            <a:off x="95525" y="863550"/>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b="1" lang="en">
                <a:solidFill>
                  <a:schemeClr val="dk1"/>
                </a:solidFill>
              </a:rPr>
              <a:t>General feedback and approval for cocoon corners</a:t>
            </a:r>
            <a:endParaRPr b="1">
              <a:solidFill>
                <a:schemeClr val="dk1"/>
              </a:solidFill>
            </a:endParaRPr>
          </a:p>
          <a:p>
            <a:pPr indent="-342900" lvl="0" marL="457200" rtl="0" algn="l">
              <a:spcBef>
                <a:spcPts val="0"/>
              </a:spcBef>
              <a:spcAft>
                <a:spcPts val="0"/>
              </a:spcAft>
              <a:buClr>
                <a:schemeClr val="dk1"/>
              </a:buClr>
              <a:buSzPts val="1800"/>
              <a:buChar char="-"/>
            </a:pPr>
            <a:r>
              <a:rPr b="1" lang="en">
                <a:solidFill>
                  <a:schemeClr val="dk1"/>
                </a:solidFill>
              </a:rPr>
              <a:t>Thoughts on timeline?</a:t>
            </a:r>
            <a:endParaRPr b="1">
              <a:solidFill>
                <a:schemeClr val="dk1"/>
              </a:solidFill>
            </a:endParaRPr>
          </a:p>
          <a:p>
            <a:pPr indent="-342900" lvl="0" marL="457200" rtl="0" algn="l">
              <a:spcBef>
                <a:spcPts val="0"/>
              </a:spcBef>
              <a:spcAft>
                <a:spcPts val="0"/>
              </a:spcAft>
              <a:buClr>
                <a:schemeClr val="dk1"/>
              </a:buClr>
              <a:buSzPts val="1800"/>
              <a:buChar char="-"/>
            </a:pPr>
            <a:r>
              <a:rPr b="1" lang="en">
                <a:solidFill>
                  <a:schemeClr val="dk1"/>
                </a:solidFill>
              </a:rPr>
              <a:t>Can these corners also be used for the pre-school?</a:t>
            </a:r>
            <a:endParaRPr b="1">
              <a:solidFill>
                <a:schemeClr val="dk1"/>
              </a:solidFill>
            </a:endParaRPr>
          </a:p>
          <a:p>
            <a:pPr indent="-342900" lvl="0" marL="457200" rtl="0" algn="l">
              <a:spcBef>
                <a:spcPts val="0"/>
              </a:spcBef>
              <a:spcAft>
                <a:spcPts val="0"/>
              </a:spcAft>
              <a:buClr>
                <a:schemeClr val="dk1"/>
              </a:buClr>
              <a:buSzPts val="1800"/>
              <a:buChar char="-"/>
            </a:pPr>
            <a:r>
              <a:rPr b="1" lang="en">
                <a:solidFill>
                  <a:schemeClr val="dk1"/>
                </a:solidFill>
              </a:rPr>
              <a:t>How to fundraise (any ideas?)</a:t>
            </a:r>
            <a:endParaRPr b="1">
              <a:solidFill>
                <a:schemeClr val="dk1"/>
              </a:solidFill>
            </a:endParaRPr>
          </a:p>
          <a:p>
            <a:pPr indent="-342900" lvl="0" marL="914400" rtl="0" algn="l">
              <a:spcBef>
                <a:spcPts val="0"/>
              </a:spcBef>
              <a:spcAft>
                <a:spcPts val="0"/>
              </a:spcAft>
              <a:buClr>
                <a:schemeClr val="dk1"/>
              </a:buClr>
              <a:buSzPts val="1800"/>
              <a:buChar char="-"/>
            </a:pPr>
            <a:r>
              <a:rPr lang="en">
                <a:solidFill>
                  <a:schemeClr val="dk1"/>
                </a:solidFill>
              </a:rPr>
              <a:t>Family member donations</a:t>
            </a:r>
            <a:endParaRPr>
              <a:solidFill>
                <a:schemeClr val="dk1"/>
              </a:solidFill>
            </a:endParaRPr>
          </a:p>
          <a:p>
            <a:pPr indent="-342900" lvl="0" marL="914400" rtl="0" algn="l">
              <a:spcBef>
                <a:spcPts val="0"/>
              </a:spcBef>
              <a:spcAft>
                <a:spcPts val="0"/>
              </a:spcAft>
              <a:buClr>
                <a:schemeClr val="dk1"/>
              </a:buClr>
              <a:buSzPts val="1800"/>
              <a:buChar char="-"/>
            </a:pPr>
            <a:r>
              <a:rPr lang="en">
                <a:solidFill>
                  <a:schemeClr val="dk1"/>
                </a:solidFill>
              </a:rPr>
              <a:t>Online fundraising</a:t>
            </a:r>
            <a:endParaRPr>
              <a:solidFill>
                <a:schemeClr val="dk1"/>
              </a:solidFill>
            </a:endParaRPr>
          </a:p>
          <a:p>
            <a:pPr indent="-342900" lvl="0" marL="914400" rtl="0" algn="l">
              <a:spcBef>
                <a:spcPts val="0"/>
              </a:spcBef>
              <a:spcAft>
                <a:spcPts val="0"/>
              </a:spcAft>
              <a:buClr>
                <a:schemeClr val="dk1"/>
              </a:buClr>
              <a:buSzPts val="1800"/>
              <a:buChar char="-"/>
            </a:pPr>
            <a:r>
              <a:rPr lang="en">
                <a:solidFill>
                  <a:schemeClr val="dk1"/>
                </a:solidFill>
              </a:rPr>
              <a:t>SNP reach group donations </a:t>
            </a:r>
            <a:endParaRPr>
              <a:solidFill>
                <a:schemeClr val="dk1"/>
              </a:solidFill>
            </a:endParaRPr>
          </a:p>
          <a:p>
            <a:pPr indent="-342900" lvl="0" marL="914400" rtl="0" algn="l">
              <a:spcBef>
                <a:spcPts val="0"/>
              </a:spcBef>
              <a:spcAft>
                <a:spcPts val="0"/>
              </a:spcAft>
              <a:buClr>
                <a:schemeClr val="dk1"/>
              </a:buClr>
              <a:buSzPts val="1800"/>
              <a:buChar char="-"/>
            </a:pPr>
            <a:r>
              <a:rPr lang="en">
                <a:solidFill>
                  <a:schemeClr val="dk1"/>
                </a:solidFill>
              </a:rPr>
              <a:t>Overlake Donations/Resources via the congregation</a:t>
            </a:r>
            <a:endParaRPr>
              <a:solidFill>
                <a:schemeClr val="dk1"/>
              </a:solidFill>
            </a:endParaRPr>
          </a:p>
          <a:p>
            <a:pPr indent="-342900" lvl="0" marL="457200" rtl="0" algn="l">
              <a:spcBef>
                <a:spcPts val="0"/>
              </a:spcBef>
              <a:spcAft>
                <a:spcPts val="0"/>
              </a:spcAft>
              <a:buClr>
                <a:schemeClr val="dk1"/>
              </a:buClr>
              <a:buSzPts val="1800"/>
              <a:buChar char="-"/>
            </a:pPr>
            <a:r>
              <a:rPr b="1" lang="en">
                <a:solidFill>
                  <a:schemeClr val="dk1"/>
                </a:solidFill>
              </a:rPr>
              <a:t>Anything else?</a:t>
            </a:r>
            <a:endParaRPr b="1">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